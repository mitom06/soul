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18"/>
  </p:notesMasterIdLst>
  <p:handoutMasterIdLst>
    <p:handoutMasterId r:id="rId19"/>
  </p:handoutMasterIdLst>
  <p:sldIdLst>
    <p:sldId id="321" r:id="rId2"/>
    <p:sldId id="347" r:id="rId3"/>
    <p:sldId id="392" r:id="rId4"/>
    <p:sldId id="405" r:id="rId5"/>
    <p:sldId id="401" r:id="rId6"/>
    <p:sldId id="391" r:id="rId7"/>
    <p:sldId id="402" r:id="rId8"/>
    <p:sldId id="393" r:id="rId9"/>
    <p:sldId id="403" r:id="rId10"/>
    <p:sldId id="404" r:id="rId11"/>
    <p:sldId id="394" r:id="rId12"/>
    <p:sldId id="396" r:id="rId13"/>
    <p:sldId id="397" r:id="rId14"/>
    <p:sldId id="398" r:id="rId15"/>
    <p:sldId id="399" r:id="rId16"/>
    <p:sldId id="400" r:id="rId17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algn="l" rtl="0" fontAlgn="base">
      <a:lnSpc>
        <a:spcPct val="70000"/>
      </a:lnSpc>
      <a:spcBef>
        <a:spcPct val="50000"/>
      </a:spcBef>
      <a:spcAft>
        <a:spcPct val="0"/>
      </a:spcAft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fontAlgn="base">
      <a:lnSpc>
        <a:spcPct val="70000"/>
      </a:lnSpc>
      <a:spcBef>
        <a:spcPct val="50000"/>
      </a:spcBef>
      <a:spcAft>
        <a:spcPct val="0"/>
      </a:spcAft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fontAlgn="base">
      <a:lnSpc>
        <a:spcPct val="70000"/>
      </a:lnSpc>
      <a:spcBef>
        <a:spcPct val="50000"/>
      </a:spcBef>
      <a:spcAft>
        <a:spcPct val="0"/>
      </a:spcAft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fontAlgn="base">
      <a:lnSpc>
        <a:spcPct val="70000"/>
      </a:lnSpc>
      <a:spcBef>
        <a:spcPct val="50000"/>
      </a:spcBef>
      <a:spcAft>
        <a:spcPct val="0"/>
      </a:spcAft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fontAlgn="base">
      <a:lnSpc>
        <a:spcPct val="70000"/>
      </a:lnSpc>
      <a:spcBef>
        <a:spcPct val="50000"/>
      </a:spcBef>
      <a:spcAft>
        <a:spcPct val="0"/>
      </a:spcAft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01F"/>
    <a:srgbClr val="FFCC99"/>
    <a:srgbClr val="9F1D8C"/>
    <a:srgbClr val="F0AAE6"/>
    <a:srgbClr val="00CCFF"/>
    <a:srgbClr val="CCECFF"/>
    <a:srgbClr val="3898B2"/>
    <a:srgbClr val="3BA0BB"/>
    <a:srgbClr val="3590A9"/>
    <a:srgbClr val="318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3" autoAdjust="0"/>
    <p:restoredTop sz="93987" autoAdjust="0"/>
  </p:normalViewPr>
  <p:slideViewPr>
    <p:cSldViewPr>
      <p:cViewPr varScale="1">
        <p:scale>
          <a:sx n="148" d="100"/>
          <a:sy n="148" d="100"/>
        </p:scale>
        <p:origin x="193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39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64B9725-44EB-408E-A670-A66AE5FBBF1B}" type="datetime1">
              <a:rPr lang="en-US"/>
              <a:pPr>
                <a:defRPr/>
              </a:pPr>
              <a:t>10/6/25</a:t>
            </a:fld>
            <a:endParaRPr lang="en-US" dirty="0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005E228-509B-414F-A9D0-D1C8250597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03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6F72C7C-C170-4C32-B42F-55464ECD45A1}" type="datetime1">
              <a:rPr lang="en-US"/>
              <a:pPr>
                <a:defRPr/>
              </a:pPr>
              <a:t>10/6/25</a:t>
            </a:fld>
            <a:endParaRPr lang="en-US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C863AC-7600-4022-BA06-9E5E1721FB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8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C863AC-7600-4022-BA06-9E5E1721FB6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13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863AC-7600-4022-BA06-9E5E1721FB6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103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Non-functional</a:t>
            </a:r>
            <a:r>
              <a:rPr lang="en-US" dirty="0"/>
              <a:t> (how the system works)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Functional</a:t>
            </a:r>
            <a:r>
              <a:rPr lang="en-US" dirty="0"/>
              <a:t>  (what the system should do)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C863AC-7600-4022-BA06-9E5E1721FB6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6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Non-functional</a:t>
            </a:r>
            <a:r>
              <a:rPr lang="en-US" dirty="0"/>
              <a:t> (how the system works)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Functional</a:t>
            </a:r>
            <a:r>
              <a:rPr lang="en-US" dirty="0"/>
              <a:t>  (what the system should do)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C863AC-7600-4022-BA06-9E5E1721FB6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95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863AC-7600-4022-BA06-9E5E1721FB6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6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156" y="6629400"/>
            <a:ext cx="8046244" cy="1470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1" dirty="0" smtClean="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/>
              <a:t>©FPT-</a:t>
            </a:r>
            <a:r>
              <a:rPr lang="en-US" dirty="0" err="1"/>
              <a:t>Aptech</a:t>
            </a:r>
            <a:r>
              <a:rPr lang="en-US" dirty="0"/>
              <a:t>                                                                      project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 sz="2400">
                <a:latin typeface="Calibri" pitchFamily="34" charset="0"/>
              </a:defRPr>
            </a:lvl1pPr>
            <a:lvl2pPr>
              <a:buClr>
                <a:schemeClr val="accent4">
                  <a:lumMod val="50000"/>
                </a:schemeClr>
              </a:buClr>
              <a:defRPr sz="2200">
                <a:latin typeface="Calibri" pitchFamily="34" charset="0"/>
              </a:defRPr>
            </a:lvl2pPr>
            <a:lvl3pPr>
              <a:buClr>
                <a:schemeClr val="tx2"/>
              </a:buClr>
              <a:defRPr sz="2000">
                <a:latin typeface="Calibri" pitchFamily="34" charset="0"/>
              </a:defRPr>
            </a:lvl3pPr>
            <a:lvl4pPr>
              <a:buClr>
                <a:schemeClr val="tx2"/>
              </a:buClr>
              <a:defRPr sz="1800"/>
            </a:lvl4pPr>
            <a:lvl5pPr>
              <a:buClr>
                <a:schemeClr val="tx2"/>
              </a:buCl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8600" y="152400"/>
            <a:ext cx="7620000" cy="411163"/>
          </a:xfrm>
        </p:spPr>
        <p:txBody>
          <a:bodyPr/>
          <a:lstStyle>
            <a:lvl1pPr>
              <a:defRPr sz="2800" b="1" cap="none" spc="200" baseline="0">
                <a:ln w="18415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56" y="6629399"/>
            <a:ext cx="8929688" cy="1628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1">
                <a:latin typeface="Calibri" pitchFamily="34" charset="0"/>
              </a:defRPr>
            </a:lvl1pPr>
          </a:lstStyle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51513"/>
            <a:ext cx="9144000" cy="5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" y="0"/>
            <a:ext cx="1295400" cy="73741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FPT-</a:t>
            </a:r>
            <a:r>
              <a:rPr lang="en-US" dirty="0" err="1"/>
              <a:t>Aptech</a:t>
            </a:r>
            <a:r>
              <a:rPr lang="en-US" dirty="0"/>
              <a:t> 			Project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3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FPT-Aptech                                                                          Project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7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152400"/>
            <a:ext cx="822960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0" y="914400"/>
            <a:ext cx="8610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629400"/>
            <a:ext cx="8077200" cy="1524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1" dirty="0" smtClean="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/>
              <a:t>© FPT-</a:t>
            </a:r>
            <a:r>
              <a:rPr lang="en-US" dirty="0" err="1"/>
              <a:t>Aptech</a:t>
            </a:r>
            <a:r>
              <a:rPr lang="en-US" dirty="0"/>
              <a:t>                                                                          Project report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613525"/>
            <a:ext cx="776288" cy="1682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1">
                <a:latin typeface="Calibri" pitchFamily="34" charset="0"/>
              </a:defRPr>
            </a:lvl1pPr>
          </a:lstStyle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endParaRPr lang="en-US" sz="4800" b="1" cap="none" spc="50" dirty="0">
              <a:ln w="11430">
                <a:solidFill>
                  <a:srgbClr val="FF0000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kern="1200">
          <a:solidFill>
            <a:schemeClr val="bg1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0000"/>
        <a:buFont typeface="Wingdings" pitchFamily="2" charset="2"/>
        <a:buChar char="u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0000"/>
        <a:buFont typeface="Wingdings 2" pitchFamily="18" charset="2"/>
        <a:buChar char="²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40000"/>
        <a:buFont typeface="Wingdings 2" pitchFamily="18" charset="2"/>
        <a:buChar char="³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3400" y="1295400"/>
            <a:ext cx="8077200" cy="450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        SOUL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</a:t>
            </a: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algn="r" eaLnBrk="1" hangingPunct="1">
              <a:buFont typeface="Wingdings" panose="05000000000000000000" pitchFamily="2" charset="2"/>
              <a:buNone/>
            </a:pPr>
            <a:endParaRPr lang="en-US" altLang="ko-KR" sz="1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marL="0" indent="0" algn="r"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Date 3 Month 10 Year 2025</a:t>
            </a:r>
            <a:endParaRPr lang="vi-VN" altLang="ko-K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FDF673-7A16-2F53-1714-510EC5509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56319"/>
              </p:ext>
            </p:extLst>
          </p:nvPr>
        </p:nvGraphicFramePr>
        <p:xfrm>
          <a:off x="1381125" y="2906268"/>
          <a:ext cx="6381750" cy="1045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7200">
                  <a:extLst>
                    <a:ext uri="{9D8B030D-6E8A-4147-A177-3AD203B41FA5}">
                      <a16:colId xmlns:a16="http://schemas.microsoft.com/office/drawing/2014/main" val="762846114"/>
                    </a:ext>
                  </a:extLst>
                </a:gridCol>
                <a:gridCol w="2491518">
                  <a:extLst>
                    <a:ext uri="{9D8B030D-6E8A-4147-A177-3AD203B41FA5}">
                      <a16:colId xmlns:a16="http://schemas.microsoft.com/office/drawing/2014/main" val="286584205"/>
                    </a:ext>
                  </a:extLst>
                </a:gridCol>
                <a:gridCol w="2323032">
                  <a:extLst>
                    <a:ext uri="{9D8B030D-6E8A-4147-A177-3AD203B41FA5}">
                      <a16:colId xmlns:a16="http://schemas.microsoft.com/office/drawing/2014/main" val="2184216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Order: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Full name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Roll No.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199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1.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Tran</a:t>
                      </a:r>
                      <a:r>
                        <a:rPr lang="vi-VN" sz="1300" dirty="0">
                          <a:effectLst/>
                        </a:rPr>
                        <a:t> Phuc Khang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Student1614879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8293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>
                          <a:effectLst/>
                        </a:rPr>
                        <a:t>2.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vi-VN" sz="1300">
                          <a:effectLst/>
                        </a:rPr>
                        <a:t>Mai Thanh Dat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Student1614903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054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>
                          <a:effectLst/>
                        </a:rPr>
                        <a:t>3.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>
                          <a:effectLst/>
                        </a:rPr>
                        <a:t>Nguyen</a:t>
                      </a:r>
                      <a:r>
                        <a:rPr lang="vi-VN" sz="1300">
                          <a:effectLst/>
                        </a:rPr>
                        <a:t> Kim Minh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85750" marR="0" algn="just">
                        <a:lnSpc>
                          <a:spcPct val="150000"/>
                        </a:lnSpc>
                        <a:buNone/>
                        <a:tabLst>
                          <a:tab pos="2857500" algn="l"/>
                        </a:tabLst>
                      </a:pPr>
                      <a:r>
                        <a:rPr lang="en-GB" sz="1300" dirty="0">
                          <a:effectLst/>
                        </a:rPr>
                        <a:t>Student1614880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60764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Content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305800" cy="5105400"/>
          </a:xfrm>
        </p:spPr>
        <p:txBody>
          <a:bodyPr/>
          <a:lstStyle/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Introduction</a:t>
            </a:r>
          </a:p>
          <a:p>
            <a:pPr lvl="1"/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Aims and Objectives</a:t>
            </a:r>
          </a:p>
          <a:p>
            <a:pPr lvl="1"/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Function/Non-function of the project</a:t>
            </a:r>
          </a:p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Test result</a:t>
            </a:r>
          </a:p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Conclusion and development</a:t>
            </a:r>
          </a:p>
          <a:p>
            <a:r>
              <a:rPr lang="en-US" altLang="ko-KR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Task list</a:t>
            </a:r>
          </a:p>
          <a:p>
            <a:pPr eaLnBrk="1" hangingPunct="1"/>
            <a:endParaRPr lang="vi-VN" altLang="ko-KR" sz="28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88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914400"/>
            <a:ext cx="8915400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SOUL stands for?</a:t>
            </a:r>
          </a:p>
          <a:p>
            <a:pPr algn="just"/>
            <a:r>
              <a:rPr lang="en-GB" dirty="0"/>
              <a:t>This project, named </a:t>
            </a:r>
            <a:r>
              <a:rPr lang="en-US" dirty="0"/>
              <a:t>“</a:t>
            </a:r>
            <a:r>
              <a:rPr lang="en-GB" dirty="0"/>
              <a:t>SOUL</a:t>
            </a:r>
            <a:r>
              <a:rPr lang="en-US" dirty="0"/>
              <a:t>”</a:t>
            </a:r>
            <a:r>
              <a:rPr lang="en-GB" dirty="0"/>
              <a:t>, is designed as a sample application that demonstrates how technology can bring together a wide range of knowledge and information. </a:t>
            </a:r>
            <a:r>
              <a:rPr lang="en-US" dirty="0"/>
              <a:t>“</a:t>
            </a:r>
            <a:r>
              <a:rPr lang="en-GB" dirty="0"/>
              <a:t>SOUL</a:t>
            </a:r>
            <a:r>
              <a:rPr lang="en-US" dirty="0"/>
              <a:t>”</a:t>
            </a:r>
            <a:r>
              <a:rPr lang="en-GB" dirty="0"/>
              <a:t> aims to provide access to content such as historic monuments, general knowledge, and even modern technology skills.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 It acts as a simple yet powerful tool to show how information from different domains can be gathered and presented in a structured way. Working on </a:t>
            </a:r>
            <a:r>
              <a:rPr lang="en-US" dirty="0"/>
              <a:t>“</a:t>
            </a:r>
            <a:r>
              <a:rPr lang="en-GB" dirty="0"/>
              <a:t>SOUL</a:t>
            </a:r>
            <a:r>
              <a:rPr lang="en-US" dirty="0"/>
              <a:t>”</a:t>
            </a:r>
            <a:r>
              <a:rPr lang="en-GB" dirty="0"/>
              <a:t> will also allow us to understand how small projects can eventually scale into larger, more robust applications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610600" cy="3048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Introduction </a:t>
            </a:r>
            <a:r>
              <a:rPr lang="en-US" altLang="en-US" sz="32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Aims and Objectives</a:t>
            </a:r>
            <a:b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</a:br>
            <a:endParaRPr lang="en-US" altLang="ko-KR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66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156" y="1631165"/>
            <a:ext cx="8305800" cy="3733800"/>
          </a:xfrm>
        </p:spPr>
        <p:txBody>
          <a:bodyPr/>
          <a:lstStyle/>
          <a:p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(Laravel API)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(laravel/framework trong composer.lock)</a:t>
            </a:r>
          </a:p>
          <a:p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(Next.js app)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TailwindCSS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610600" cy="3048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Introduction </a:t>
            </a:r>
            <a:r>
              <a:rPr lang="en-US" altLang="en-US" sz="32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Aims and Objectives</a:t>
            </a:r>
            <a:b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</a:br>
            <a:endParaRPr lang="en-US" altLang="ko-KR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29A2D-715D-9A47-AE29-CD4436700743}"/>
              </a:ext>
            </a:extLst>
          </p:cNvPr>
          <p:cNvSpPr txBox="1"/>
          <p:nvPr/>
        </p:nvSpPr>
        <p:spPr>
          <a:xfrm>
            <a:off x="294736" y="1191110"/>
            <a:ext cx="5638800" cy="44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178742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23CE-D929-B344-5B97-1DA3E47F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15E13-EBA1-8E0D-847A-7799B4477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CBC3-ED8B-DCB4-E2D5-74E717578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288" y="1090729"/>
            <a:ext cx="8929688" cy="56227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Functions: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47269F-0691-B308-9ECE-292540B6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610600" cy="3048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Introduction </a:t>
            </a:r>
            <a:r>
              <a:rPr lang="en-US" altLang="en-US" sz="32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Actual requirements</a:t>
            </a:r>
            <a:endParaRPr lang="en-US" altLang="ko-KR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94BAED-29BB-894C-B61C-7DF9DB01295B}"/>
              </a:ext>
            </a:extLst>
          </p:cNvPr>
          <p:cNvGrpSpPr/>
          <p:nvPr/>
        </p:nvGrpSpPr>
        <p:grpSpPr>
          <a:xfrm>
            <a:off x="2819399" y="920008"/>
            <a:ext cx="3907465" cy="1918958"/>
            <a:chOff x="2743200" y="838200"/>
            <a:chExt cx="3962400" cy="10668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9BC3A39-6A03-324E-B498-71995E91C737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838200"/>
              <a:ext cx="0" cy="1066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0C3A52D-346D-B84B-AF51-D92EC9C392FD}"/>
                </a:ext>
              </a:extLst>
            </p:cNvPr>
            <p:cNvCxnSpPr/>
            <p:nvPr/>
          </p:nvCxnSpPr>
          <p:spPr>
            <a:xfrm>
              <a:off x="2743200" y="838200"/>
              <a:ext cx="396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1F4E2EF-B53D-7141-A2AE-2A74A31B569C}"/>
              </a:ext>
            </a:extLst>
          </p:cNvPr>
          <p:cNvSpPr txBox="1"/>
          <p:nvPr/>
        </p:nvSpPr>
        <p:spPr>
          <a:xfrm>
            <a:off x="6705600" y="793882"/>
            <a:ext cx="2413811" cy="488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 trending or popular content.</a:t>
            </a:r>
            <a:r>
              <a:rPr lang="en-VN" dirty="0">
                <a:effectLst/>
              </a:rPr>
              <a:t> </a:t>
            </a:r>
            <a:endParaRPr lang="en-VN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40574AC-6102-AB47-8B3E-3F88E0A6DCF9}"/>
              </a:ext>
            </a:extLst>
          </p:cNvPr>
          <p:cNvGrpSpPr/>
          <p:nvPr/>
        </p:nvGrpSpPr>
        <p:grpSpPr>
          <a:xfrm>
            <a:off x="3048003" y="1377208"/>
            <a:ext cx="3657597" cy="1461757"/>
            <a:chOff x="3009899" y="1371600"/>
            <a:chExt cx="3962400" cy="1375476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EA89177-A0AA-0C4F-819A-3B1C8CD4C3B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899" y="1371600"/>
              <a:ext cx="0" cy="13754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A521BA-AB3B-6F48-A479-2A3227DECB3D}"/>
                </a:ext>
              </a:extLst>
            </p:cNvPr>
            <p:cNvCxnSpPr/>
            <p:nvPr/>
          </p:nvCxnSpPr>
          <p:spPr>
            <a:xfrm>
              <a:off x="3009899" y="1371600"/>
              <a:ext cx="396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C61E25D-5768-364F-A004-3BCE10919916}"/>
              </a:ext>
            </a:extLst>
          </p:cNvPr>
          <p:cNvSpPr txBox="1"/>
          <p:nvPr/>
        </p:nvSpPr>
        <p:spPr>
          <a:xfrm>
            <a:off x="6694961" y="1297572"/>
            <a:ext cx="2413817" cy="75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 access to the ebooks section.</a:t>
            </a:r>
          </a:p>
          <a:p>
            <a:endParaRPr lang="en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5D5053-EF26-ED44-8178-7546B0540511}"/>
              </a:ext>
            </a:extLst>
          </p:cNvPr>
          <p:cNvGrpSpPr/>
          <p:nvPr/>
        </p:nvGrpSpPr>
        <p:grpSpPr>
          <a:xfrm>
            <a:off x="3346180" y="1905000"/>
            <a:ext cx="3348782" cy="933966"/>
            <a:chOff x="3352800" y="2166527"/>
            <a:chExt cx="3467076" cy="56105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3FE6D9-38FA-C84A-810A-B5A444DF792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66527"/>
              <a:ext cx="0" cy="561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CF7C7CD-EF1E-1649-86EE-B13B58B2F9D7}"/>
                </a:ext>
              </a:extLst>
            </p:cNvPr>
            <p:cNvCxnSpPr/>
            <p:nvPr/>
          </p:nvCxnSpPr>
          <p:spPr>
            <a:xfrm>
              <a:off x="3352800" y="2166527"/>
              <a:ext cx="3467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84DD3DA-0FD0-0540-8D10-34A91364707D}"/>
              </a:ext>
            </a:extLst>
          </p:cNvPr>
          <p:cNvSpPr txBox="1"/>
          <p:nvPr/>
        </p:nvSpPr>
        <p:spPr>
          <a:xfrm>
            <a:off x="6705600" y="1791912"/>
            <a:ext cx="2345385" cy="75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 access to the podcasts section.</a:t>
            </a:r>
          </a:p>
          <a:p>
            <a:endParaRPr lang="en-V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27A2BFB-2F30-B44F-A6D8-A2211141620E}"/>
              </a:ext>
            </a:extLst>
          </p:cNvPr>
          <p:cNvGrpSpPr/>
          <p:nvPr/>
        </p:nvGrpSpPr>
        <p:grpSpPr>
          <a:xfrm>
            <a:off x="3733800" y="2362200"/>
            <a:ext cx="3047997" cy="476766"/>
            <a:chOff x="3733800" y="2442276"/>
            <a:chExt cx="2961161" cy="30480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342EBA-7F0F-2447-BFE0-782CCFCE1870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2442276"/>
              <a:ext cx="0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18462E0-8E1E-FD4E-A463-C366CACD720C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2442276"/>
              <a:ext cx="29611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B0B34A0-CE52-8046-9CE9-83290AF4BC30}"/>
              </a:ext>
            </a:extLst>
          </p:cNvPr>
          <p:cNvSpPr txBox="1"/>
          <p:nvPr/>
        </p:nvSpPr>
        <p:spPr>
          <a:xfrm>
            <a:off x="6705600" y="2330391"/>
            <a:ext cx="3124193" cy="560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 more about SOUL.</a:t>
            </a:r>
          </a:p>
          <a:p>
            <a:endParaRPr lang="en-V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C16D15-FCD5-EF48-82F7-BDFA1AED417D}"/>
              </a:ext>
            </a:extLst>
          </p:cNvPr>
          <p:cNvSpPr txBox="1"/>
          <p:nvPr/>
        </p:nvSpPr>
        <p:spPr>
          <a:xfrm>
            <a:off x="6726864" y="2634421"/>
            <a:ext cx="2408279" cy="75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answers to common questions.</a:t>
            </a:r>
            <a:endParaRPr lang="en-V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VN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2C8F719-3FD1-8D47-8847-6E7C56F6F618}"/>
              </a:ext>
            </a:extLst>
          </p:cNvPr>
          <p:cNvGrpSpPr/>
          <p:nvPr/>
        </p:nvGrpSpPr>
        <p:grpSpPr>
          <a:xfrm>
            <a:off x="3987707" y="2667202"/>
            <a:ext cx="2688261" cy="171762"/>
            <a:chOff x="4038600" y="2727580"/>
            <a:chExt cx="2688261" cy="13315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ED17DD-9F19-DD48-B084-AD7D52D6CC6B}"/>
                </a:ext>
              </a:extLst>
            </p:cNvPr>
            <p:cNvCxnSpPr>
              <a:cxnSpLocks/>
            </p:cNvCxnSpPr>
            <p:nvPr/>
          </p:nvCxnSpPr>
          <p:spPr>
            <a:xfrm>
              <a:off x="4038600" y="2727580"/>
              <a:ext cx="0" cy="1331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7151D27-3BF9-2644-8389-091859A4F626}"/>
                </a:ext>
              </a:extLst>
            </p:cNvPr>
            <p:cNvCxnSpPr/>
            <p:nvPr/>
          </p:nvCxnSpPr>
          <p:spPr>
            <a:xfrm flipH="1">
              <a:off x="4038600" y="2727580"/>
              <a:ext cx="26882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4E7147F4-F3FC-074B-A13C-EC0BF6E0B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5" y="2838964"/>
            <a:ext cx="6073595" cy="3861024"/>
          </a:xfrm>
          <a:prstGeom prst="rect">
            <a:avLst/>
          </a:prstGeom>
        </p:spPr>
      </p:pic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3AEC40B2-0151-654F-A1D5-AE1502DFB7E0}"/>
              </a:ext>
            </a:extLst>
          </p:cNvPr>
          <p:cNvCxnSpPr>
            <a:cxnSpLocks/>
          </p:cNvCxnSpPr>
          <p:nvPr/>
        </p:nvCxnSpPr>
        <p:spPr>
          <a:xfrm>
            <a:off x="6126124" y="2953363"/>
            <a:ext cx="650601" cy="551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62CD810-8F65-6F4A-9887-BAED24C04D75}"/>
              </a:ext>
            </a:extLst>
          </p:cNvPr>
          <p:cNvSpPr txBox="1"/>
          <p:nvPr/>
        </p:nvSpPr>
        <p:spPr>
          <a:xfrm>
            <a:off x="6726864" y="3401815"/>
            <a:ext cx="2408279" cy="50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ogin or Create new account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78878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Functional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255616"/>
            <a:ext cx="8458200" cy="446552"/>
          </a:xfrm>
        </p:spPr>
        <p:txBody>
          <a:bodyPr/>
          <a:lstStyle/>
          <a:p>
            <a:pPr lvl="1" algn="ctr"/>
            <a:r>
              <a:rPr lang="en-US" altLang="en-US" sz="31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Introduction </a:t>
            </a:r>
            <a:r>
              <a:rPr lang="en-US" altLang="en-US" sz="31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the project </a:t>
            </a:r>
            <a:endParaRPr lang="en-US" altLang="ko-KR" sz="31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F6DD7A-1C82-6845-98F6-7CDFD0137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838200"/>
            <a:ext cx="5486400" cy="464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F4F370-9B88-C749-9844-D7AD123FDCF2}"/>
              </a:ext>
            </a:extLst>
          </p:cNvPr>
          <p:cNvSpPr txBox="1"/>
          <p:nvPr/>
        </p:nvSpPr>
        <p:spPr>
          <a:xfrm>
            <a:off x="1" y="1296962"/>
            <a:ext cx="3657600" cy="4828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SOUL Admin Dashboard – Sidebar Guide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1. Dashboard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Opens the main overview page.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Shows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key metrics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: total users, products (books + podcasts), orders, and revenue.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Includes a graph of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orders per day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over a selected time range (1 month, 3 months, 6 months).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2. Book Management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the </a:t>
            </a:r>
            <a:r>
              <a:rPr lang="en-US" sz="1200" b="1" dirty="0" err="1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ebooks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in the system.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Functions typically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Add new books (title, author, description, file upload).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Edit existing books (update info, replace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Delete books.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View book statistics (downloads, reads).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3. Podcast Management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the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podcasts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in the system.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Functions: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Upload new podcast episodes (audio file + details).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Edit podcast information (title, description, host).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Delete podcasts.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Track listens/streams.</a:t>
            </a:r>
          </a:p>
          <a:p>
            <a:endParaRPr lang="en-VN" sz="1200" dirty="0">
              <a:latin typeface="Calibri" panose="020F0502020204030204" pitchFamily="34" charset="0"/>
              <a:ea typeface="Tamil Sangam MN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79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0500" y="761999"/>
            <a:ext cx="5448300" cy="5867399"/>
          </a:xfrm>
        </p:spPr>
        <p:txBody>
          <a:bodyPr/>
          <a:lstStyle/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4. Orders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all customer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purchases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(books, podcasts, subscriptions).</a:t>
            </a:r>
          </a:p>
          <a:p>
            <a:pPr marL="0" indent="0">
              <a:buNone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V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iew details: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Order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User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Payment status (paid/pending)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Date &amp; revenue amount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5. Payment History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Detailed list of all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transactions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Useful for accounting &amp; financial tracking.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Likely includes filters: by date, amount, user, or method (credit card, PayPal, etc.).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6. Users Sub (User Subscriptions)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subscription plans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(Free, VIP, Premium).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Functions: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See who is subscribed to what plan.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Upgrade/downgrade users.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Track subscription start &amp; renewal dates.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7. Notifications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system notifications.</a:t>
            </a:r>
          </a:p>
          <a:p>
            <a:pPr marL="0" indent="0">
              <a:buNone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Functions: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Send announcements to users.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View system alerts (failed payments, errors, etc.).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200" dirty="0">
                <a:ea typeface="Tamil Sangam MN" pitchFamily="2" charset="0"/>
                <a:cs typeface="Calibri" panose="020F0502020204030204" pitchFamily="34" charset="0"/>
              </a:rPr>
              <a:t>Track which notifications have been read.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65714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31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	Introduction </a:t>
            </a:r>
            <a:r>
              <a:rPr lang="en-US" altLang="en-US" sz="31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the project </a:t>
            </a:r>
            <a:endParaRPr lang="en-US" altLang="ko-KR" sz="31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B2048A-E2D5-A544-88B8-D4393E260C86}"/>
              </a:ext>
            </a:extLst>
          </p:cNvPr>
          <p:cNvSpPr txBox="1"/>
          <p:nvPr/>
        </p:nvSpPr>
        <p:spPr>
          <a:xfrm>
            <a:off x="5410200" y="864452"/>
            <a:ext cx="3390900" cy="2564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8. Roles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Manage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user roles and permissions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Functions: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Define admin, editor, moderator, or standard user roles.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Control who can access which features (example: only admins can manage payments).</a:t>
            </a:r>
          </a:p>
          <a:p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9. Back to Home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Exit the admin panel.</a:t>
            </a:r>
          </a:p>
          <a:p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Redirects back to the </a:t>
            </a:r>
            <a:r>
              <a:rPr lang="en-US" sz="1200" b="1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main SOUL homepage</a:t>
            </a:r>
            <a:r>
              <a:rPr lang="en-US" sz="1200" dirty="0">
                <a:latin typeface="Calibri" panose="020F0502020204030204" pitchFamily="34" charset="0"/>
                <a:ea typeface="Tamil Sangam MN" pitchFamily="2" charset="0"/>
                <a:cs typeface="Calibri" panose="020F0502020204030204" pitchFamily="34" charset="0"/>
              </a:rPr>
              <a:t> (the customer-facing website).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9321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35EB871-85B1-1043-A6C4-532D642FC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878" y="843951"/>
            <a:ext cx="5867400" cy="5184788"/>
          </a:xfr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	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Introduction </a:t>
            </a:r>
            <a:r>
              <a:rPr lang="en-US" altLang="en-US" sz="32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eployment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iagram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080C9-85A9-EF4B-B254-0CE55EDD7351}"/>
              </a:ext>
            </a:extLst>
          </p:cNvPr>
          <p:cNvSpPr txBox="1"/>
          <p:nvPr/>
        </p:nvSpPr>
        <p:spPr>
          <a:xfrm>
            <a:off x="-10633" y="1117881"/>
            <a:ext cx="3292550" cy="490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SOUL User Dashboard – Sidebar Guide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1. Personal Information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View and edit your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profile details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(name, email, role, and current subscription plan).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Button: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Edit Profile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→ allows you to update your information.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2. Change Password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Update your account’s password for security.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Usually requires entering old password → new password → confirm new password.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Favourites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Shows the list of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ebooks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and podcasts you’ve saved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favourites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Quick access to your preferred content without searching again.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4. Library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Your personal library of books and podcasts.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Displays all the content you’ve purchased, borrowed, or unlocked.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5. Continues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“Continue Watching/Reading/Listening” section.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Lets you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pick up where you left off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in books or podcasts.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V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4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	</a:t>
            </a:r>
            <a:r>
              <a:rPr lang="en-US" altLang="en-US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Introduction </a:t>
            </a:r>
            <a:r>
              <a:rPr lang="en-US" altLang="en-US" sz="3200" b="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-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eployment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iagram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080C9-85A9-EF4B-B254-0CE55EDD7351}"/>
              </a:ext>
            </a:extLst>
          </p:cNvPr>
          <p:cNvSpPr txBox="1"/>
          <p:nvPr/>
        </p:nvSpPr>
        <p:spPr>
          <a:xfrm>
            <a:off x="278219" y="1036505"/>
            <a:ext cx="7772400" cy="288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6. My Orders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Shows your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purchase history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(books, podcasts, or bundles).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Includes order ID, payment status, and date.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 My Payment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Manage your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payment methods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(credit card, PayPal, etc.).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View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payment history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and billing details.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8. My Package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View and manage your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subscription plan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(Free, VIP, Premium).</a:t>
            </a:r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Options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See current plan status.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Upgrade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renew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subscription.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Check expiry/renewal dates.</a:t>
            </a:r>
          </a:p>
          <a:p>
            <a:endParaRPr lang="en-V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77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63844-743C-5546-A5C6-858BF0766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FPT-Aptech 			Project report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F49F0-1D46-784F-A48E-7002C26F5C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61A0A-CA90-374E-B337-E4DA9B461963}"/>
              </a:ext>
            </a:extLst>
          </p:cNvPr>
          <p:cNvSpPr txBox="1"/>
          <p:nvPr/>
        </p:nvSpPr>
        <p:spPr>
          <a:xfrm>
            <a:off x="152400" y="990600"/>
            <a:ext cx="5638800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Non-Functional</a:t>
            </a:r>
            <a:endParaRPr lang="en-V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2CFF7-AE3A-DE47-A67D-81B77C335461}"/>
              </a:ext>
            </a:extLst>
          </p:cNvPr>
          <p:cNvSpPr txBox="1"/>
          <p:nvPr/>
        </p:nvSpPr>
        <p:spPr>
          <a:xfrm>
            <a:off x="381000" y="1447800"/>
            <a:ext cx="8382000" cy="244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1.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All data in transit must use HTTPS (TLS 1.2 or higher).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Users must log in with multi-factor authentication (MFA).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Passwords stored using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bcrypt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or Argon2 hashing.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2. 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 UI must not be used mobile responsive.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90% of new users should be able to complete onboarding within 5 minutes.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Follow WCAG accessibility guidelines (e.g., color contrast, alt text).</a:t>
            </a:r>
          </a:p>
          <a:p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3. Maintainability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 codebase must follow PSR-12 coding standards (PHP example).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All modules should include unit tests with at least 80% coverage.</a:t>
            </a:r>
          </a:p>
        </p:txBody>
      </p:sp>
    </p:spTree>
    <p:extLst>
      <p:ext uri="{BB962C8B-B14F-4D97-AF65-F5344CB8AC3E}">
        <p14:creationId xmlns:p14="http://schemas.microsoft.com/office/powerpoint/2010/main" val="373626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BCCB465-5B0D-F94F-E4B6-05810AF39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510578"/>
              </p:ext>
            </p:extLst>
          </p:nvPr>
        </p:nvGraphicFramePr>
        <p:xfrm>
          <a:off x="1295400" y="761098"/>
          <a:ext cx="5715000" cy="6096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3148">
                  <a:extLst>
                    <a:ext uri="{9D8B030D-6E8A-4147-A177-3AD203B41FA5}">
                      <a16:colId xmlns:a16="http://schemas.microsoft.com/office/drawing/2014/main" val="3177079662"/>
                    </a:ext>
                  </a:extLst>
                </a:gridCol>
                <a:gridCol w="3919577">
                  <a:extLst>
                    <a:ext uri="{9D8B030D-6E8A-4147-A177-3AD203B41FA5}">
                      <a16:colId xmlns:a16="http://schemas.microsoft.com/office/drawing/2014/main" val="2726017790"/>
                    </a:ext>
                  </a:extLst>
                </a:gridCol>
                <a:gridCol w="1032275">
                  <a:extLst>
                    <a:ext uri="{9D8B030D-6E8A-4147-A177-3AD203B41FA5}">
                      <a16:colId xmlns:a16="http://schemas.microsoft.com/office/drawing/2014/main" val="1156604778"/>
                    </a:ext>
                  </a:extLst>
                </a:gridCol>
              </a:tblGrid>
              <a:tr h="638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Sr.No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 dirty="0" err="1">
                          <a:effectLst/>
                        </a:rPr>
                        <a:t>Aspected</a:t>
                      </a:r>
                      <a:r>
                        <a:rPr lang="en-GB" sz="1100" dirty="0">
                          <a:effectLst/>
                        </a:rPr>
                        <a:t> Tested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Suggestion/</a:t>
                      </a:r>
                      <a:endParaRPr lang="en-US" sz="9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Remarks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 anchor="ctr"/>
                </a:tc>
                <a:extLst>
                  <a:ext uri="{0D108BD9-81ED-4DB2-BD59-A6C34878D82A}">
                    <a16:rowId xmlns:a16="http://schemas.microsoft.com/office/drawing/2014/main" val="3179965346"/>
                  </a:ext>
                </a:extLst>
              </a:tr>
              <a:tr h="2736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7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6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 dirty="0">
                          <a:effectLst/>
                        </a:rPr>
                        <a:t>A</a:t>
                      </a:r>
                      <a:r>
                        <a:rPr lang="en-GB" sz="1100" dirty="0">
                          <a:effectLst/>
                        </a:rPr>
                        <a:t>re</a:t>
                      </a:r>
                      <a:r>
                        <a:rPr lang="en-GB" sz="1100" spc="-2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all</a:t>
                      </a:r>
                      <a:r>
                        <a:rPr lang="en-GB" sz="1100" spc="-1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the</a:t>
                      </a:r>
                      <a:r>
                        <a:rPr lang="en-GB" sz="1100" spc="-1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users</a:t>
                      </a:r>
                      <a:r>
                        <a:rPr lang="en-GB" sz="1100" spc="-2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able</a:t>
                      </a:r>
                      <a:r>
                        <a:rPr lang="en-GB" sz="1100" spc="-2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to</a:t>
                      </a:r>
                      <a:r>
                        <a:rPr lang="en-GB" sz="1100" spc="-1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view</a:t>
                      </a:r>
                      <a:r>
                        <a:rPr lang="en-GB" sz="1100" spc="-2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the</a:t>
                      </a:r>
                      <a:r>
                        <a:rPr lang="en-GB" sz="1100" spc="-1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i</a:t>
                      </a:r>
                      <a:r>
                        <a:rPr lang="en-GB" sz="1100" spc="5" dirty="0">
                          <a:effectLst/>
                        </a:rPr>
                        <a:t>m</a:t>
                      </a:r>
                      <a:r>
                        <a:rPr lang="en-GB" sz="1100" dirty="0">
                          <a:effectLst/>
                        </a:rPr>
                        <a:t>ages</a:t>
                      </a:r>
                      <a:r>
                        <a:rPr lang="en-GB" sz="1100" spc="-3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and</a:t>
                      </a:r>
                      <a:r>
                        <a:rPr lang="en-GB" sz="1100" spc="-2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li</a:t>
                      </a:r>
                      <a:r>
                        <a:rPr lang="en-GB" sz="1100" spc="5" dirty="0">
                          <a:effectLst/>
                        </a:rPr>
                        <a:t>n</a:t>
                      </a:r>
                      <a:r>
                        <a:rPr lang="en-GB" sz="1100" dirty="0">
                          <a:effectLst/>
                        </a:rPr>
                        <a:t>ks?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2748489999"/>
                  </a:ext>
                </a:extLst>
              </a:tr>
              <a:tr h="7062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ave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vie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s,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m</a:t>
                      </a:r>
                      <a:r>
                        <a:rPr lang="en-GB" sz="1100">
                          <a:effectLst/>
                        </a:rPr>
                        <a:t>odules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and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controllers</a:t>
                      </a:r>
                      <a:r>
                        <a:rPr lang="en-GB" sz="1100" spc="-5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been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properly int</a:t>
                      </a:r>
                      <a:r>
                        <a:rPr lang="en-GB" sz="1100" spc="5">
                          <a:effectLst/>
                        </a:rPr>
                        <a:t>e</a:t>
                      </a:r>
                      <a:r>
                        <a:rPr lang="en-GB" sz="1100">
                          <a:effectLst/>
                        </a:rPr>
                        <a:t>grat</a:t>
                      </a:r>
                      <a:r>
                        <a:rPr lang="en-GB" sz="1100" spc="5">
                          <a:effectLst/>
                        </a:rPr>
                        <a:t>e</a:t>
                      </a:r>
                      <a:r>
                        <a:rPr lang="en-GB" sz="1100">
                          <a:effectLst/>
                        </a:rPr>
                        <a:t>d</a:t>
                      </a:r>
                      <a:r>
                        <a:rPr lang="en-GB" sz="1100" spc="-5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and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is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site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function</a:t>
                      </a:r>
                      <a:r>
                        <a:rPr lang="en-GB" sz="1100" spc="-4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as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 single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page applicatio</a:t>
                      </a:r>
                      <a:r>
                        <a:rPr lang="en-GB" sz="1100" spc="5">
                          <a:effectLst/>
                        </a:rPr>
                        <a:t>n</a:t>
                      </a:r>
                      <a:r>
                        <a:rPr lang="en-GB" sz="1100">
                          <a:effectLst/>
                        </a:rPr>
                        <a:t>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674771848"/>
                  </a:ext>
                </a:extLst>
              </a:tr>
              <a:tr h="262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A</a:t>
                      </a:r>
                      <a:r>
                        <a:rPr lang="en-GB" sz="1100">
                          <a:effectLst/>
                        </a:rPr>
                        <a:t>re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GU</a:t>
                      </a:r>
                      <a:r>
                        <a:rPr lang="en-GB" sz="1100">
                          <a:effectLst/>
                        </a:rPr>
                        <a:t>I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content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devoid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of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spelling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m</a:t>
                      </a:r>
                      <a:r>
                        <a:rPr lang="en-GB" sz="1100">
                          <a:effectLst/>
                        </a:rPr>
                        <a:t>istakes?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2028375538"/>
                  </a:ext>
                </a:extLst>
              </a:tr>
              <a:tr h="262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Is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</a:t>
                      </a:r>
                      <a:r>
                        <a:rPr lang="en-GB" sz="1100" spc="5">
                          <a:effectLst/>
                        </a:rPr>
                        <a:t>pp</a:t>
                      </a:r>
                      <a:r>
                        <a:rPr lang="en-GB" sz="1100">
                          <a:effectLst/>
                        </a:rPr>
                        <a:t>licati</a:t>
                      </a:r>
                      <a:r>
                        <a:rPr lang="en-GB" sz="1100" spc="5">
                          <a:effectLst/>
                        </a:rPr>
                        <a:t>o</a:t>
                      </a:r>
                      <a:r>
                        <a:rPr lang="en-GB" sz="1100">
                          <a:effectLst/>
                        </a:rPr>
                        <a:t>n</a:t>
                      </a:r>
                      <a:r>
                        <a:rPr lang="en-GB" sz="1100" spc="-6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user-frie</a:t>
                      </a:r>
                      <a:r>
                        <a:rPr lang="en-GB" sz="1100" spc="5">
                          <a:effectLst/>
                        </a:rPr>
                        <a:t>nd</a:t>
                      </a:r>
                      <a:r>
                        <a:rPr lang="en-GB" sz="1100">
                          <a:effectLst/>
                        </a:rPr>
                        <a:t>l</a:t>
                      </a:r>
                      <a:r>
                        <a:rPr lang="en-GB" sz="1100" spc="5">
                          <a:effectLst/>
                        </a:rPr>
                        <a:t>y</a:t>
                      </a:r>
                      <a:r>
                        <a:rPr lang="en-GB" sz="1100">
                          <a:effectLst/>
                        </a:rPr>
                        <a:t>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2351161587"/>
                  </a:ext>
                </a:extLst>
              </a:tr>
              <a:tr h="484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Is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5">
                          <a:effectLst/>
                        </a:rPr>
                        <a:t>b</a:t>
                      </a:r>
                      <a:r>
                        <a:rPr lang="en-GB" sz="1100">
                          <a:effectLst/>
                        </a:rPr>
                        <a:t>site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la</a:t>
                      </a:r>
                      <a:r>
                        <a:rPr lang="en-GB" sz="1100" spc="5">
                          <a:effectLst/>
                        </a:rPr>
                        <a:t>un</a:t>
                      </a:r>
                      <a:r>
                        <a:rPr lang="en-GB" sz="1100">
                          <a:effectLst/>
                        </a:rPr>
                        <a:t>c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i</a:t>
                      </a:r>
                      <a:r>
                        <a:rPr lang="en-GB" sz="1100" spc="5">
                          <a:effectLst/>
                        </a:rPr>
                        <a:t>n</a:t>
                      </a:r>
                      <a:r>
                        <a:rPr lang="en-GB" sz="1100">
                          <a:effectLst/>
                        </a:rPr>
                        <a:t>g</a:t>
                      </a:r>
                      <a:r>
                        <a:rPr lang="en-GB" sz="1100" spc="-5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</a:t>
                      </a:r>
                      <a:r>
                        <a:rPr lang="en-GB" sz="1100" spc="5">
                          <a:effectLst/>
                        </a:rPr>
                        <a:t>o</a:t>
                      </a:r>
                      <a:r>
                        <a:rPr lang="en-GB" sz="1100">
                          <a:effectLst/>
                        </a:rPr>
                        <a:t>rrectly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in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popular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bro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sers?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1068180188"/>
                  </a:ext>
                </a:extLst>
              </a:tr>
              <a:tr h="262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A</a:t>
                      </a:r>
                      <a:r>
                        <a:rPr lang="en-GB" sz="1100">
                          <a:effectLst/>
                        </a:rPr>
                        <a:t>re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for</a:t>
                      </a:r>
                      <a:r>
                        <a:rPr lang="en-GB" sz="1100" spc="5">
                          <a:effectLst/>
                        </a:rPr>
                        <a:t>m</a:t>
                      </a:r>
                      <a:r>
                        <a:rPr lang="en-GB" sz="1100">
                          <a:effectLst/>
                        </a:rPr>
                        <a:t>s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validated</a:t>
                      </a:r>
                      <a:r>
                        <a:rPr lang="en-GB" sz="1100" spc="-50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ith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proper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criteria?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984279028"/>
                  </a:ext>
                </a:extLst>
              </a:tr>
              <a:tr h="262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D</a:t>
                      </a:r>
                      <a:r>
                        <a:rPr lang="en-GB" sz="1100">
                          <a:effectLst/>
                        </a:rPr>
                        <a:t>o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e</a:t>
                      </a:r>
                      <a:r>
                        <a:rPr lang="en-GB" sz="1100">
                          <a:effectLst/>
                        </a:rPr>
                        <a:t>xt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li</a:t>
                      </a:r>
                      <a:r>
                        <a:rPr lang="en-GB" sz="1100" spc="5">
                          <a:effectLst/>
                        </a:rPr>
                        <a:t>n</a:t>
                      </a:r>
                      <a:r>
                        <a:rPr lang="en-GB" sz="1100">
                          <a:effectLst/>
                        </a:rPr>
                        <a:t>ks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</a:t>
                      </a:r>
                      <a:r>
                        <a:rPr lang="en-GB" sz="1100" spc="5">
                          <a:effectLst/>
                        </a:rPr>
                        <a:t>e</a:t>
                      </a:r>
                      <a:r>
                        <a:rPr lang="en-GB" sz="1100">
                          <a:effectLst/>
                        </a:rPr>
                        <a:t>ad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to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appropri</a:t>
                      </a:r>
                      <a:r>
                        <a:rPr lang="en-GB" sz="1100" spc="5">
                          <a:effectLst/>
                        </a:rPr>
                        <a:t>a</a:t>
                      </a:r>
                      <a:r>
                        <a:rPr lang="en-GB" sz="1100">
                          <a:effectLst/>
                        </a:rPr>
                        <a:t>te</a:t>
                      </a:r>
                      <a:r>
                        <a:rPr lang="en-GB" sz="1100" spc="-60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ebsite?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3427104663"/>
                  </a:ext>
                </a:extLst>
              </a:tr>
              <a:tr h="262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D</a:t>
                      </a:r>
                      <a:r>
                        <a:rPr lang="en-GB" sz="1100">
                          <a:effectLst/>
                        </a:rPr>
                        <a:t>o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i</a:t>
                      </a:r>
                      <a:r>
                        <a:rPr lang="en-GB" sz="1100" spc="5">
                          <a:effectLst/>
                        </a:rPr>
                        <a:t>m</a:t>
                      </a:r>
                      <a:r>
                        <a:rPr lang="en-GB" sz="1100">
                          <a:effectLst/>
                        </a:rPr>
                        <a:t>age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links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lead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to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appropriate</a:t>
                      </a:r>
                      <a:r>
                        <a:rPr lang="en-GB" sz="1100" spc="-50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ebsite?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1557595266"/>
                  </a:ext>
                </a:extLst>
              </a:tr>
              <a:tr h="484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A</a:t>
                      </a:r>
                      <a:r>
                        <a:rPr lang="en-GB" sz="1100">
                          <a:effectLst/>
                        </a:rPr>
                        <a:t>re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i</a:t>
                      </a:r>
                      <a:r>
                        <a:rPr lang="en-GB" sz="1100" spc="5">
                          <a:effectLst/>
                        </a:rPr>
                        <a:t>m</a:t>
                      </a:r>
                      <a:r>
                        <a:rPr lang="en-GB" sz="1100">
                          <a:effectLst/>
                        </a:rPr>
                        <a:t>ages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and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links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clearly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visible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on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page?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2557492350"/>
                  </a:ext>
                </a:extLst>
              </a:tr>
              <a:tr h="484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D</a:t>
                      </a:r>
                      <a:r>
                        <a:rPr lang="en-GB" sz="1100">
                          <a:effectLst/>
                        </a:rPr>
                        <a:t>oes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eb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page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ork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properly</a:t>
                      </a:r>
                      <a:r>
                        <a:rPr lang="en-GB" sz="1100" spc="-4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in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tested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bro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sers?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521613160"/>
                  </a:ext>
                </a:extLst>
              </a:tr>
              <a:tr h="2736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11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700"/>
                        </a:lnSpc>
                        <a:buNone/>
                      </a:pPr>
                      <a:r>
                        <a:rPr lang="en-GB" sz="6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spc="5">
                          <a:effectLst/>
                        </a:rPr>
                        <a:t>D</a:t>
                      </a:r>
                      <a:r>
                        <a:rPr lang="en-GB" sz="1100">
                          <a:effectLst/>
                        </a:rPr>
                        <a:t>oes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the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eb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page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a</a:t>
                      </a:r>
                      <a:r>
                        <a:rPr lang="en-GB" sz="1100">
                          <a:effectLst/>
                        </a:rPr>
                        <a:t>ke</a:t>
                      </a:r>
                      <a:r>
                        <a:rPr lang="en-GB" sz="1100" spc="-2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too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long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to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be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loaded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full</a:t>
                      </a:r>
                      <a:r>
                        <a:rPr lang="en-GB" sz="1100" spc="5">
                          <a:effectLst/>
                        </a:rPr>
                        <a:t>y</a:t>
                      </a:r>
                      <a:r>
                        <a:rPr lang="en-GB" sz="1100">
                          <a:effectLst/>
                        </a:rPr>
                        <a:t>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1959761345"/>
                  </a:ext>
                </a:extLst>
              </a:tr>
              <a:tr h="484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>
                          <a:effectLst/>
                        </a:rPr>
                        <a:t> </a:t>
                      </a:r>
                      <a:endParaRPr lang="en-US" sz="90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Is</a:t>
                      </a:r>
                      <a:r>
                        <a:rPr lang="en-GB" sz="1100" spc="-1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n</a:t>
                      </a:r>
                      <a:r>
                        <a:rPr lang="en-GB" sz="1100">
                          <a:effectLst/>
                        </a:rPr>
                        <a:t>a</a:t>
                      </a:r>
                      <a:r>
                        <a:rPr lang="en-GB" sz="1100" spc="5">
                          <a:effectLst/>
                        </a:rPr>
                        <a:t>v</a:t>
                      </a:r>
                      <a:r>
                        <a:rPr lang="en-GB" sz="1100">
                          <a:effectLst/>
                        </a:rPr>
                        <a:t>i</a:t>
                      </a:r>
                      <a:r>
                        <a:rPr lang="en-GB" sz="1100" spc="5">
                          <a:effectLst/>
                        </a:rPr>
                        <a:t>g</a:t>
                      </a:r>
                      <a:r>
                        <a:rPr lang="en-GB" sz="1100">
                          <a:effectLst/>
                        </a:rPr>
                        <a:t>ati</a:t>
                      </a:r>
                      <a:r>
                        <a:rPr lang="en-GB" sz="1100" spc="5">
                          <a:effectLst/>
                        </a:rPr>
                        <a:t>o</a:t>
                      </a:r>
                      <a:r>
                        <a:rPr lang="en-GB" sz="1100">
                          <a:effectLst/>
                        </a:rPr>
                        <a:t>n</a:t>
                      </a:r>
                      <a:r>
                        <a:rPr lang="en-GB" sz="1100" spc="-5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se</a:t>
                      </a:r>
                      <a:r>
                        <a:rPr lang="en-GB" sz="1100" spc="5">
                          <a:effectLst/>
                        </a:rPr>
                        <a:t>qu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5">
                          <a:effectLst/>
                        </a:rPr>
                        <a:t>n</a:t>
                      </a:r>
                      <a:r>
                        <a:rPr lang="en-GB" sz="1100">
                          <a:effectLst/>
                        </a:rPr>
                        <a:t>ces</a:t>
                      </a:r>
                      <a:r>
                        <a:rPr lang="en-GB" sz="1100" spc="-5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c</a:t>
                      </a:r>
                      <a:r>
                        <a:rPr lang="en-GB" sz="1100" spc="5">
                          <a:effectLst/>
                        </a:rPr>
                        <a:t>o</a:t>
                      </a:r>
                      <a:r>
                        <a:rPr lang="en-GB" sz="1100">
                          <a:effectLst/>
                        </a:rPr>
                        <a:t>rrect</a:t>
                      </a:r>
                      <a:r>
                        <a:rPr lang="en-GB" sz="1100" spc="-3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r</a:t>
                      </a:r>
                      <a:r>
                        <a:rPr lang="en-GB" sz="1100" spc="5">
                          <a:effectLst/>
                        </a:rPr>
                        <a:t>oug</a:t>
                      </a:r>
                      <a:r>
                        <a:rPr lang="en-GB" sz="1100">
                          <a:effectLst/>
                        </a:rPr>
                        <a:t>h</a:t>
                      </a:r>
                      <a:r>
                        <a:rPr lang="en-GB" sz="1100" spc="-40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all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W</a:t>
                      </a:r>
                      <a:r>
                        <a:rPr lang="en-GB" sz="1100">
                          <a:effectLst/>
                        </a:rPr>
                        <a:t>eb</a:t>
                      </a:r>
                      <a:r>
                        <a:rPr lang="en-GB" sz="1100" spc="-25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p</a:t>
                      </a:r>
                      <a:r>
                        <a:rPr lang="en-GB" sz="1100">
                          <a:effectLst/>
                        </a:rPr>
                        <a:t>a</a:t>
                      </a:r>
                      <a:r>
                        <a:rPr lang="en-GB" sz="1100" spc="5">
                          <a:effectLst/>
                        </a:rPr>
                        <a:t>g</a:t>
                      </a:r>
                      <a:r>
                        <a:rPr lang="en-GB" sz="1100">
                          <a:effectLst/>
                        </a:rPr>
                        <a:t>es</a:t>
                      </a:r>
                      <a:r>
                        <a:rPr lang="en-GB" sz="1100" spc="-30">
                          <a:effectLst/>
                        </a:rPr>
                        <a:t> </a:t>
                      </a:r>
                      <a:r>
                        <a:rPr lang="en-GB" sz="1100" spc="5">
                          <a:effectLst/>
                        </a:rPr>
                        <a:t>o</a:t>
                      </a:r>
                      <a:r>
                        <a:rPr lang="en-GB" sz="1100">
                          <a:effectLst/>
                        </a:rPr>
                        <a:t>n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t</a:t>
                      </a:r>
                      <a:r>
                        <a:rPr lang="en-GB" sz="1100" spc="5">
                          <a:effectLst/>
                        </a:rPr>
                        <a:t>h</a:t>
                      </a:r>
                      <a:r>
                        <a:rPr lang="en-GB" sz="1100">
                          <a:effectLst/>
                        </a:rPr>
                        <a:t>e</a:t>
                      </a:r>
                      <a:r>
                        <a:rPr lang="en-GB" sz="1100" spc="-15">
                          <a:effectLst/>
                        </a:rPr>
                        <a:t> </a:t>
                      </a:r>
                      <a:r>
                        <a:rPr lang="en-GB" sz="1100">
                          <a:effectLst/>
                        </a:rPr>
                        <a:t>site?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PASS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3358078968"/>
                  </a:ext>
                </a:extLst>
              </a:tr>
              <a:tr h="484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100">
                          <a:effectLst/>
                        </a:rPr>
                        <a:t>13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600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GB" sz="5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GB" sz="1100" dirty="0">
                          <a:effectLst/>
                        </a:rPr>
                        <a:t>Is</a:t>
                      </a:r>
                      <a:r>
                        <a:rPr lang="en-GB" sz="1100" spc="-1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t</a:t>
                      </a:r>
                      <a:r>
                        <a:rPr lang="en-GB" sz="1100" spc="5" dirty="0">
                          <a:effectLst/>
                        </a:rPr>
                        <a:t>h</a:t>
                      </a:r>
                      <a:r>
                        <a:rPr lang="en-GB" sz="1100" dirty="0">
                          <a:effectLst/>
                        </a:rPr>
                        <a:t>e</a:t>
                      </a:r>
                      <a:r>
                        <a:rPr lang="en-GB" sz="1100" spc="-1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Ja</a:t>
                      </a:r>
                      <a:r>
                        <a:rPr lang="en-GB" sz="1100" spc="5" dirty="0">
                          <a:effectLst/>
                        </a:rPr>
                        <a:t>v</a:t>
                      </a:r>
                      <a:r>
                        <a:rPr lang="en-GB" sz="1100" dirty="0">
                          <a:effectLst/>
                        </a:rPr>
                        <a:t>a</a:t>
                      </a:r>
                      <a:r>
                        <a:rPr lang="en-GB" sz="1100" spc="5" dirty="0">
                          <a:effectLst/>
                        </a:rPr>
                        <a:t>S</a:t>
                      </a:r>
                      <a:r>
                        <a:rPr lang="en-GB" sz="1100" dirty="0">
                          <a:effectLst/>
                        </a:rPr>
                        <a:t>cri</a:t>
                      </a:r>
                      <a:r>
                        <a:rPr lang="en-GB" sz="1100" spc="5" dirty="0">
                          <a:effectLst/>
                        </a:rPr>
                        <a:t>p</a:t>
                      </a:r>
                      <a:r>
                        <a:rPr lang="en-GB" sz="1100" dirty="0">
                          <a:effectLst/>
                        </a:rPr>
                        <a:t>t</a:t>
                      </a:r>
                      <a:r>
                        <a:rPr lang="en-GB" sz="1100" spc="-5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c</a:t>
                      </a:r>
                      <a:r>
                        <a:rPr lang="en-GB" sz="1100" spc="5" dirty="0">
                          <a:effectLst/>
                        </a:rPr>
                        <a:t>od</a:t>
                      </a:r>
                      <a:r>
                        <a:rPr lang="en-GB" sz="1100" dirty="0">
                          <a:effectLst/>
                        </a:rPr>
                        <a:t>e</a:t>
                      </a:r>
                      <a:r>
                        <a:rPr lang="en-GB" sz="1100" spc="-2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w</a:t>
                      </a:r>
                      <a:r>
                        <a:rPr lang="en-GB" sz="1100" spc="5" dirty="0">
                          <a:effectLst/>
                        </a:rPr>
                        <a:t>o</a:t>
                      </a:r>
                      <a:r>
                        <a:rPr lang="en-GB" sz="1100" dirty="0">
                          <a:effectLst/>
                        </a:rPr>
                        <a:t>r</a:t>
                      </a:r>
                      <a:r>
                        <a:rPr lang="en-GB" sz="1100" spc="5" dirty="0">
                          <a:effectLst/>
                        </a:rPr>
                        <a:t>k</a:t>
                      </a:r>
                      <a:r>
                        <a:rPr lang="en-GB" sz="1100" dirty="0">
                          <a:effectLst/>
                        </a:rPr>
                        <a:t>i</a:t>
                      </a:r>
                      <a:r>
                        <a:rPr lang="en-GB" sz="1100" spc="5" dirty="0">
                          <a:effectLst/>
                        </a:rPr>
                        <a:t>n</a:t>
                      </a:r>
                      <a:r>
                        <a:rPr lang="en-GB" sz="1100" dirty="0">
                          <a:effectLst/>
                        </a:rPr>
                        <a:t>g</a:t>
                      </a:r>
                      <a:r>
                        <a:rPr lang="en-GB" sz="1100" spc="-4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as</a:t>
                      </a:r>
                      <a:r>
                        <a:rPr lang="en-GB" sz="1100" spc="-1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e</a:t>
                      </a:r>
                      <a:r>
                        <a:rPr lang="en-GB" sz="1100" spc="5" dirty="0">
                          <a:effectLst/>
                        </a:rPr>
                        <a:t>xp</a:t>
                      </a:r>
                      <a:r>
                        <a:rPr lang="en-GB" sz="1100" dirty="0">
                          <a:effectLst/>
                        </a:rPr>
                        <a:t>ected</a:t>
                      </a:r>
                      <a:r>
                        <a:rPr lang="en-GB" sz="1100" spc="-4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in</a:t>
                      </a:r>
                      <a:r>
                        <a:rPr lang="en-GB" sz="1100" spc="-1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all</a:t>
                      </a:r>
                      <a:r>
                        <a:rPr lang="en-GB" sz="1100" spc="-15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click</a:t>
                      </a:r>
                      <a:r>
                        <a:rPr lang="en-GB" sz="1100" spc="-20" dirty="0">
                          <a:effectLst/>
                        </a:rPr>
                        <a:t> </a:t>
                      </a:r>
                      <a:r>
                        <a:rPr lang="en-GB" sz="1100" dirty="0">
                          <a:effectLst/>
                        </a:rPr>
                        <a:t>e</a:t>
                      </a:r>
                      <a:r>
                        <a:rPr lang="en-GB" sz="1100" spc="5" dirty="0">
                          <a:effectLst/>
                        </a:rPr>
                        <a:t>v</a:t>
                      </a:r>
                      <a:r>
                        <a:rPr lang="en-GB" sz="1100" dirty="0">
                          <a:effectLst/>
                        </a:rPr>
                        <a:t>e</a:t>
                      </a:r>
                      <a:r>
                        <a:rPr lang="en-GB" sz="1100" spc="5" dirty="0">
                          <a:effectLst/>
                        </a:rPr>
                        <a:t>n</a:t>
                      </a:r>
                      <a:r>
                        <a:rPr lang="en-GB" sz="1100" dirty="0">
                          <a:effectLst/>
                        </a:rPr>
                        <a:t>ts?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PASS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5810" marR="55810" marT="0" marB="0"/>
                </a:tc>
                <a:extLst>
                  <a:ext uri="{0D108BD9-81ED-4DB2-BD59-A6C34878D82A}">
                    <a16:rowId xmlns:a16="http://schemas.microsoft.com/office/drawing/2014/main" val="3280429300"/>
                  </a:ext>
                </a:extLst>
              </a:tr>
            </a:tbl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	</a:t>
            </a:r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Test Result [1-n]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938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will help user automate everything, making their work easier for users.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	</a:t>
            </a:r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4655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Building applications using PHP/Laravel and MySQL database. 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28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   	</a:t>
            </a:r>
            <a:r>
              <a:rPr lang="en-US" altLang="ko-KR" sz="3200" dirty="0"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rPr>
              <a:t> Development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98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List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7E391C5-B5EE-8B9B-B976-EBC19F092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236256"/>
              </p:ext>
            </p:extLst>
          </p:nvPr>
        </p:nvGraphicFramePr>
        <p:xfrm>
          <a:off x="457200" y="914400"/>
          <a:ext cx="8458199" cy="54864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834">
                  <a:extLst>
                    <a:ext uri="{9D8B030D-6E8A-4147-A177-3AD203B41FA5}">
                      <a16:colId xmlns:a16="http://schemas.microsoft.com/office/drawing/2014/main" val="1469802787"/>
                    </a:ext>
                  </a:extLst>
                </a:gridCol>
                <a:gridCol w="1434308">
                  <a:extLst>
                    <a:ext uri="{9D8B030D-6E8A-4147-A177-3AD203B41FA5}">
                      <a16:colId xmlns:a16="http://schemas.microsoft.com/office/drawing/2014/main" val="305167524"/>
                    </a:ext>
                  </a:extLst>
                </a:gridCol>
                <a:gridCol w="1231291">
                  <a:extLst>
                    <a:ext uri="{9D8B030D-6E8A-4147-A177-3AD203B41FA5}">
                      <a16:colId xmlns:a16="http://schemas.microsoft.com/office/drawing/2014/main" val="1857428821"/>
                    </a:ext>
                  </a:extLst>
                </a:gridCol>
                <a:gridCol w="3763301">
                  <a:extLst>
                    <a:ext uri="{9D8B030D-6E8A-4147-A177-3AD203B41FA5}">
                      <a16:colId xmlns:a16="http://schemas.microsoft.com/office/drawing/2014/main" val="155479614"/>
                    </a:ext>
                  </a:extLst>
                </a:gridCol>
                <a:gridCol w="1498465">
                  <a:extLst>
                    <a:ext uri="{9D8B030D-6E8A-4147-A177-3AD203B41FA5}">
                      <a16:colId xmlns:a16="http://schemas.microsoft.com/office/drawing/2014/main" val="562213192"/>
                    </a:ext>
                  </a:extLst>
                </a:gridCol>
              </a:tblGrid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Member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Contents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Table Name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8144779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Trần Phúc Khang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User Managemet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Users, user_subscriptions favourites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7228412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756200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User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Subscription Management, Favorites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413263"/>
                  </a:ext>
                </a:extLst>
              </a:tr>
              <a:tr h="388214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667395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8192827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marL="0" marR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Mai Thanh Đạt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Order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orders, order_items, payments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1046262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021834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96242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User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Order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1003"/>
                  </a:ext>
                </a:extLst>
              </a:tr>
              <a:tr h="647023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Payment getway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Payment Processing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464942"/>
                  </a:ext>
                </a:extLst>
              </a:tr>
              <a:tr h="284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2235218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Nguyễn Kim Minh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Product Management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products, Product_files, continues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8156332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202189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User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Progress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 Tracking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121692"/>
                  </a:ext>
                </a:extLst>
              </a:tr>
              <a:tr h="32351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293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23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8006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ko-KR" b="1" kern="0" dirty="0">
              <a:ea typeface="굴림" pitchFamily="34" charset="-127"/>
            </a:endParaRPr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4400" b="1" kern="0" dirty="0">
                <a:latin typeface="Vladimir Script" panose="03050402040407070305" pitchFamily="66" charset="0"/>
                <a:ea typeface="굴림" pitchFamily="34" charset="-127"/>
                <a:cs typeface="Times New Roman" panose="02020603050405020304" pitchFamily="18" charset="0"/>
              </a:rPr>
              <a:t>Thank You</a:t>
            </a:r>
            <a:endParaRPr lang="vi-VN" altLang="ko-KR" sz="4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912" y="3038475"/>
            <a:ext cx="30003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15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B7F2F63-BF3E-4C0C-A868-2C657446BA0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800600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10600" cy="609600"/>
          </a:xfrm>
        </p:spPr>
        <p:txBody>
          <a:bodyPr/>
          <a:lstStyle/>
          <a:p>
            <a:pPr lvl="1" algn="ctr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altLang="en-US" sz="3200" dirty="0"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22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Store Apps Templat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3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1714</TotalTime>
  <Words>1333</Words>
  <Application>Microsoft Macintosh PowerPoint</Application>
  <PresentationFormat>On-screen Show (4:3)</PresentationFormat>
  <Paragraphs>291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Times New Roman</vt:lpstr>
      <vt:lpstr>Vladimir Script</vt:lpstr>
      <vt:lpstr>Wingdings</vt:lpstr>
      <vt:lpstr>Wingdings 2</vt:lpstr>
      <vt:lpstr>Store Apps Template</vt:lpstr>
      <vt:lpstr>Introduction</vt:lpstr>
      <vt:lpstr>Content</vt:lpstr>
      <vt:lpstr> Introduction - Aims and Objectives </vt:lpstr>
      <vt:lpstr> Introduction - Aims and Objectives </vt:lpstr>
      <vt:lpstr> Introduction -Actual requirements</vt:lpstr>
      <vt:lpstr> Introduction - Requirements of the project </vt:lpstr>
      <vt:lpstr> Introduction - Requirements of the project </vt:lpstr>
      <vt:lpstr>      Introduction - Deployment diagram </vt:lpstr>
      <vt:lpstr>      Introduction - Deployment diagram </vt:lpstr>
      <vt:lpstr>PowerPoint Presentation</vt:lpstr>
      <vt:lpstr>     Test Result [1-n]</vt:lpstr>
      <vt:lpstr>     Conclusion</vt:lpstr>
      <vt:lpstr>      Development</vt:lpstr>
      <vt:lpstr>Task List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Sinh Tran</dc:creator>
  <cp:lastModifiedBy>Microsoft Office User</cp:lastModifiedBy>
  <cp:revision>431</cp:revision>
  <dcterms:created xsi:type="dcterms:W3CDTF">2014-04-09T06:08:42Z</dcterms:created>
  <dcterms:modified xsi:type="dcterms:W3CDTF">2025-10-06T07:09:49Z</dcterms:modified>
</cp:coreProperties>
</file>